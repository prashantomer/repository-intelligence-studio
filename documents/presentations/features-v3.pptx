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28632" y="-548640"/>
            <a:ext cx="3108960" cy="3108960"/>
          </a:xfrm>
          <a:prstGeom prst="ellipse">
            <a:avLst/>
          </a:prstGeom>
          <a:solidFill>
            <a:srgbClr val="1C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3840480" cy="329184"/>
          </a:xfrm>
          <a:prstGeom prst="rect">
            <a:avLst/>
          </a:prstGeom>
          <a:solidFill>
            <a:srgbClr val="0B7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3840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CAPSTONE MVP  ·  FEATURE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Repository
Intelligence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6052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8C4DC"/>
                </a:solidFill>
              </a:rPr>
              <a:t>Ingestion · search · repository Q&amp;A · impact analysis · deletion auditability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10607040" cy="27432"/>
          </a:xfrm>
          <a:prstGeom prst="rect">
            <a:avLst/>
          </a:prstGeom>
          <a:solidFill>
            <a:srgbClr val="0B7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263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90B0"/>
                </a:solidFill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43D"/>
                </a:solidFill>
              </a:rPr>
              <a:t>What The Current Build Delivers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E7A"/>
                </a:solidFill>
              </a:rPr>
              <a:t>Eight implemented product features covering repository ingestion, retrieval, reasoning, operations, and cleanup.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0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02920" cy="69494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6420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63624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43D"/>
                </a:solidFill>
              </a:rPr>
              <a:t>Repository Creation &amp;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56232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 i="0">
                <a:solidFill>
                  <a:srgbClr val="4B5E7A"/>
                </a:solidFill>
              </a:rPr>
              <a:t>Register a repository, ingest the tracked branch, and build a reusable indexed snapshot.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08760"/>
            <a:ext cx="548640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508760"/>
            <a:ext cx="502920" cy="69494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6420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563624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43D"/>
                </a:solidFill>
              </a:rPr>
              <a:t>Manual Re-Sync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856232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 i="0">
                <a:solidFill>
                  <a:srgbClr val="4B5E7A"/>
                </a:solidFill>
              </a:rPr>
              <a:t>Force-refresh the repository snapshot, embeddings, and graph when the branch or settings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95144"/>
            <a:ext cx="548640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295144"/>
            <a:ext cx="502920" cy="69494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4505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350008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43D"/>
                </a:solidFill>
              </a:rPr>
              <a:t>Repository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642616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 i="0">
                <a:solidFill>
                  <a:srgbClr val="4B5E7A"/>
                </a:solidFill>
              </a:rPr>
              <a:t>Ask repository questions with async, thread-aware, evidence-grounded responses.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295144"/>
            <a:ext cx="548640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2295144"/>
            <a:ext cx="502920" cy="69494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4505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350008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43D"/>
                </a:solidFill>
              </a:rPr>
              <a:t>Semantic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642616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 i="0">
                <a:solidFill>
                  <a:srgbClr val="4B5E7A"/>
                </a:solidFill>
              </a:rPr>
              <a:t>Find relevant code using vector retrieval plus exact symbol hits and snippet-style previews.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081528"/>
            <a:ext cx="548640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081528"/>
            <a:ext cx="502920" cy="69494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23697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313639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43D"/>
                </a:solidFill>
              </a:rPr>
              <a:t>Impact Analyzer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3429000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 i="0">
                <a:solidFill>
                  <a:srgbClr val="4B5E7A"/>
                </a:solidFill>
              </a:rPr>
              <a:t>Estimate blast radius with dependency traversal, saved reports, and narrated guidance.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081528"/>
            <a:ext cx="548640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3081528"/>
            <a:ext cx="502920" cy="69494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23697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13639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43D"/>
                </a:solidFill>
              </a:rPr>
              <a:t>Provider Logs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3429000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 i="0">
                <a:solidFill>
                  <a:srgbClr val="4B5E7A"/>
                </a:solidFill>
              </a:rPr>
              <a:t>Inspect every assistant, embedding, and narration call with usage, latency, and status.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867912"/>
            <a:ext cx="548640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867912"/>
            <a:ext cx="502920" cy="69494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0233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3922776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43D"/>
                </a:solidFill>
              </a:rPr>
              <a:t>Centralized AI Settings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4215384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 i="0">
                <a:solidFill>
                  <a:srgbClr val="4B5E7A"/>
                </a:solidFill>
              </a:rPr>
              <a:t>Control providers and models once at the user level for assistant and retrieval behavior.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867912"/>
            <a:ext cx="548640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3867912"/>
            <a:ext cx="502920" cy="69494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0233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922776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43D"/>
                </a:solidFill>
              </a:rPr>
              <a:t>Hard Delete &amp; Deletion Logs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4215384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 i="0">
                <a:solidFill>
                  <a:srgbClr val="4B5E7A"/>
                </a:solidFill>
              </a:rPr>
              <a:t>Permanently remove a repository and keep one surviving operational deletion snapshot.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17320" cy="2743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4243D"/>
                </a:solidFill>
              </a:rPr>
              <a:t>Repository Creation &amp; Initial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4B5E7A"/>
                </a:solidFill>
              </a:rPr>
              <a:t>Register a public repository and build the first repository-scoped indexed snapshot.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47120" cy="22860"/>
          </a:xfrm>
          <a:prstGeom prst="rect">
            <a:avLst/>
          </a:prstGeom>
          <a:solidFill>
            <a:srgbClr val="D0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Repository name and source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Default branch or tracked-branch override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79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User triggers initial indexing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3672" y="1463040"/>
            <a:ext cx="3520440" cy="4069080"/>
          </a:xfrm>
          <a:prstGeom prst="rect">
            <a:avLst/>
          </a:prstGeom>
          <a:solidFill>
            <a:srgbClr val="E8F5F2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3672" y="1463040"/>
            <a:ext cx="3520440" cy="45720"/>
          </a:xfrm>
          <a:prstGeom prst="rect">
            <a:avLst/>
          </a:prstGeom>
          <a:solidFill>
            <a:srgbClr val="0B7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7A6C"/>
                </a:solidFill>
              </a:rPr>
              <a:t>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Create repository and ingestion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Clone source into disposable workspace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779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Inventory files, parse entities, chunk 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Generate embeddings and dependency edges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36210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Persist repository-scoped snapshot state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0144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0144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3024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Indexed files, chunks, entities, routes, edges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Tracked branch + commit SHA snapshot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2779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Ready state for search, assistant, and impact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559552"/>
            <a:ext cx="112471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564184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7A6C"/>
                </a:solidFill>
              </a:rPr>
              <a:t>Practical 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632704"/>
            <a:ext cx="9875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E7A"/>
                </a:solidFill>
              </a:rPr>
              <a:t>Onboard a new repository once and reuse the indexed snapshot across all later workflows • Reduce repeated manual codebase reading before asking architecture or change questions • Cost saving: one ingestion snapshot supports many searches and assistant queries instead of repeated raw analysis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035040"/>
            <a:ext cx="11247120" cy="41148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117336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A8D0C8"/>
                </a:solidFill>
              </a:rPr>
              <a:t>  User → Repository Create → StartService → IngestionJob → Clone → Parse → Chunk → Embed → Graph Build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9459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E7A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17320" cy="2743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4243D"/>
                </a:solidFill>
              </a:rPr>
              <a:t>Manual Re-Sync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4B5E7A"/>
                </a:solidFill>
              </a:rPr>
              <a:t>Refresh the repository snapshot on demand when code or embedding assumptions change.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47120" cy="22860"/>
          </a:xfrm>
          <a:prstGeom prst="rect">
            <a:avLst/>
          </a:prstGeom>
          <a:solidFill>
            <a:srgbClr val="D0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Repository selected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User clicks Re-sync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79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Current tracked branch snapshot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3672" y="1463040"/>
            <a:ext cx="3520440" cy="4069080"/>
          </a:xfrm>
          <a:prstGeom prst="rect">
            <a:avLst/>
          </a:prstGeom>
          <a:solidFill>
            <a:srgbClr val="E8F5F2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3672" y="1463040"/>
            <a:ext cx="3520440" cy="45720"/>
          </a:xfrm>
          <a:prstGeom prst="rect">
            <a:avLst/>
          </a:prstGeom>
          <a:solidFill>
            <a:srgbClr val="0B7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7A6C"/>
                </a:solidFill>
              </a:rPr>
              <a:t>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Start forced ingestion even after prior indexing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Rebuild entities, chunks, embeddings, and edges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779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Record ingestion history and audit 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Clean temporary cloned workspace afterward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0144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0144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Fresh indexed snapshot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Updated ingestion history and latest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2779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Safe recovery after embedding/config changes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559552"/>
            <a:ext cx="112471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64184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7A6C"/>
                </a:solidFill>
              </a:rPr>
              <a:t>Practical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632704"/>
            <a:ext cx="9875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E7A"/>
                </a:solidFill>
              </a:rPr>
              <a:t>Refresh the knowledge base after branch updates without re-adding the repository • Rebuild vectors safely after embedding-model changes • Cost saving: avoids stale-answer debugging and keeps retrieval aligned to the latest indexed branch state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035040"/>
            <a:ext cx="11247120" cy="41148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117336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A8D0C8"/>
                </a:solidFill>
              </a:rPr>
              <a:t>  User → Re-sync Action → StartService(force=true) → IngestionJob → Rebuilt Repository Snapshot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E7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17320" cy="2743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4243D"/>
                </a:solidFill>
              </a:rPr>
              <a:t>Repository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4B5E7A"/>
                </a:solidFill>
              </a:rPr>
              <a:t>Async, repository-scoped Q&amp;A with follow-up context, structured answers, and grounded citations.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47120" cy="22860"/>
          </a:xfrm>
          <a:prstGeom prst="rect">
            <a:avLst/>
          </a:prstGeom>
          <a:solidFill>
            <a:srgbClr val="D0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Natural-language repository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Active conversation thread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79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Indexed repository snapshot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3672" y="1463040"/>
            <a:ext cx="3520440" cy="4069080"/>
          </a:xfrm>
          <a:prstGeom prst="rect">
            <a:avLst/>
          </a:prstGeom>
          <a:solidFill>
            <a:srgbClr val="E8F5F2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3672" y="1463040"/>
            <a:ext cx="3520440" cy="45720"/>
          </a:xfrm>
          <a:prstGeom prst="rect">
            <a:avLst/>
          </a:prstGeom>
          <a:solidFill>
            <a:srgbClr val="0B7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7A6C"/>
                </a:solidFill>
              </a:rPr>
              <a:t>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Queue user question and create pending assistant 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Reuse recent thread context for follow-up resolution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779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Try structured inventory or flow-aware answer path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Fallback to retrieval + provider/local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36210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Stream finalized response back into the chat UI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0144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0144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3024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Grounded repository answer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Citations with file paths and line ranges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2779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Persistent conversation + provider usage log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559552"/>
            <a:ext cx="112471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564184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7A6C"/>
                </a:solidFill>
              </a:rPr>
              <a:t>Practical 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632704"/>
            <a:ext cx="9875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E7A"/>
                </a:solidFill>
              </a:rPr>
              <a:t>Ask architecture, dependency, and execution-flow questions without opening many files manually • Use follow-up questions in the same thread to continue investigation faster • Cost saving: structured answer paths avoid unnecessary full-provider generation for narrow inventory questions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035040"/>
            <a:ext cx="11247120" cy="41148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117336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A8D0C8"/>
                </a:solidFill>
              </a:rPr>
              <a:t>  User → QueueQuestionService → AssistantResponseJob → Context Build → Structured/Flow Path or Retrieval → Answer → Turbo Update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9459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E7A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17320" cy="2743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4243D"/>
                </a:solidFill>
              </a:rPr>
              <a:t>Semantic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4B5E7A"/>
                </a:solidFill>
              </a:rPr>
              <a:t>Repository code search backed by embeddings, exact symbol hits, and snippet-style previews.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47120" cy="22860"/>
          </a:xfrm>
          <a:prstGeom prst="rect">
            <a:avLst/>
          </a:prstGeom>
          <a:solidFill>
            <a:srgbClr val="D0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Search query, concept, or symbol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Repository-scoped indexed chunks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1463040"/>
            <a:ext cx="3520440" cy="4069080"/>
          </a:xfrm>
          <a:prstGeom prst="rect">
            <a:avLst/>
          </a:prstGeom>
          <a:solidFill>
            <a:srgbClr val="E8F5F2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3672" y="1463040"/>
            <a:ext cx="3520440" cy="45720"/>
          </a:xfrm>
          <a:prstGeom prst="rect">
            <a:avLst/>
          </a:prstGeom>
          <a:solidFill>
            <a:srgbClr val="0B7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7A6C"/>
                </a:solidFill>
              </a:rPr>
              <a:t>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Embed query using active embedding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Rank vector-nearest chunks inside the 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779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Boost exact in-chunk line hits for concrete symbols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Build contextual snippet previews around matched 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6210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Refresh results in place via Turbo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0144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0144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Ranked matching chunks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Snippet previews with surrounding lines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2779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File path, type, and line-window evidence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559552"/>
            <a:ext cx="112471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64184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7A6C"/>
                </a:solidFill>
              </a:rPr>
              <a:t>Practical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632704"/>
            <a:ext cx="9875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E7A"/>
                </a:solidFill>
              </a:rPr>
              <a:t>Find a method, controller, or workflow even when the exact file is unknown • Use symbol search plus semantic ranking for faster code discovery during debugging or onboarding • Cost saving: direct search resolves many questions before invoking the assistant pipeline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035040"/>
            <a:ext cx="11247120" cy="41148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117336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A8D0C8"/>
                </a:solidFill>
              </a:rPr>
              <a:t>  User → Search Query → Query Embedding → Vector Ranking + Exact Hit Scoring → Snippet Build → Turbo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E7A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17320" cy="2743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4243D"/>
                </a:solidFill>
              </a:rPr>
              <a:t>Impact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4B5E7A"/>
                </a:solidFill>
              </a:rPr>
              <a:t>Change-risk analysis using target resolution, graph traversal, saved reports, and narrated guidance.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47120" cy="22860"/>
          </a:xfrm>
          <a:prstGeom prst="rect">
            <a:avLst/>
          </a:prstGeom>
          <a:solidFill>
            <a:srgbClr val="D0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Entity identifier or natural-language impact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Repository dependency graph and indexed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1463040"/>
            <a:ext cx="3520440" cy="4069080"/>
          </a:xfrm>
          <a:prstGeom prst="rect">
            <a:avLst/>
          </a:prstGeom>
          <a:solidFill>
            <a:srgbClr val="E8F5F2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3672" y="1463040"/>
            <a:ext cx="3520440" cy="45720"/>
          </a:xfrm>
          <a:prstGeom prst="rect">
            <a:avLst/>
          </a:prstGeom>
          <a:solidFill>
            <a:srgbClr val="0B7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7A6C"/>
                </a:solidFill>
              </a:rPr>
              <a:t>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Interpret and resolve the likely code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Traverse upstream and downstream relationships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779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Collect related files, jobs, routes, and evidence chunks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Assign deterministic risk level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6210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Add provider-backed narration with safe fallback and save report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0144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0144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Impact summary with risk level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Saved report with drill-down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2779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Review checklist and operational guidance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559552"/>
            <a:ext cx="112471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64184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7A6C"/>
                </a:solidFill>
              </a:rPr>
              <a:t>Practical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632704"/>
            <a:ext cx="9875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E7A"/>
                </a:solidFill>
              </a:rPr>
              <a:t>Check blast radius before refactoring a controller, service, model, or job • Use saved reports during review discussions to compare risky change areas • Cost saving: catches risky dependencies earlier and reduces rework from avoidable regressions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035040"/>
            <a:ext cx="11247120" cy="41148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117336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A8D0C8"/>
                </a:solidFill>
              </a:rPr>
              <a:t>  User → Query Interpreter → Entity Resolve → Graph Traversal → Evidence Retrieval → Impact Report → Saved History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E7A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17320" cy="2743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4243D"/>
                </a:solidFill>
              </a:rPr>
              <a:t>Provider 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4B5E7A"/>
                </a:solidFill>
              </a:rPr>
              <a:t>Operational visibility into assistant, embedding, and narration calls across repository workflows.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47120" cy="22860"/>
          </a:xfrm>
          <a:prstGeom prst="rect">
            <a:avLst/>
          </a:prstGeom>
          <a:solidFill>
            <a:srgbClr val="D0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Assistant calls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Embedding calls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79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Impact narration/provider requests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3672" y="1463040"/>
            <a:ext cx="3520440" cy="4069080"/>
          </a:xfrm>
          <a:prstGeom prst="rect">
            <a:avLst/>
          </a:prstGeom>
          <a:solidFill>
            <a:srgbClr val="E8F5F2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3672" y="1463040"/>
            <a:ext cx="3520440" cy="45720"/>
          </a:xfrm>
          <a:prstGeom prst="rect">
            <a:avLst/>
          </a:prstGeom>
          <a:solidFill>
            <a:srgbClr val="0B7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7A6C"/>
                </a:solidFill>
              </a:rPr>
              <a:t>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Record provider, model, operation, and endpoint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Capture status, latency, token usage, and metadata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779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Estimate cost where supported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Expose filterable UI history for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0144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0144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Call history by provider and operation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Debuggable failed-call 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2779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Usage and cost auditability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559552"/>
            <a:ext cx="112471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64184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7A6C"/>
                </a:solidFill>
              </a:rPr>
              <a:t>Practical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632704"/>
            <a:ext cx="9875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E7A"/>
                </a:solidFill>
              </a:rPr>
              <a:t>Trace why an assistant or embedding request failed without reading raw server logs • Compare latency and token usage across providers/models • Cost saving: exposes expensive or noisy provider usage so runtime configuration can be optimized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035040"/>
            <a:ext cx="11247120" cy="41148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117336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A8D0C8"/>
                </a:solidFill>
              </a:rPr>
              <a:t>  Feature Runtime Call → ProviderCallLogRecorder → Database Entry → Logs Workspace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E7A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17320" cy="2743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4243D"/>
                </a:solidFill>
              </a:rPr>
              <a:t>Centralized AI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4B5E7A"/>
                </a:solidFill>
              </a:rPr>
              <a:t>User-level control of assistant and embedding providers/models across all repositories.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47120" cy="22860"/>
          </a:xfrm>
          <a:prstGeom prst="rect">
            <a:avLst/>
          </a:prstGeom>
          <a:solidFill>
            <a:srgbClr val="D0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Assistant provider and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Embedding provider and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79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Ollama/local endpoint or remote provider config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3672" y="1463040"/>
            <a:ext cx="3520440" cy="4069080"/>
          </a:xfrm>
          <a:prstGeom prst="rect">
            <a:avLst/>
          </a:prstGeom>
          <a:solidFill>
            <a:srgbClr val="E8F5F2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3672" y="1463040"/>
            <a:ext cx="3520440" cy="45720"/>
          </a:xfrm>
          <a:prstGeom prst="rect">
            <a:avLst/>
          </a:prstGeom>
          <a:solidFill>
            <a:srgbClr val="0B7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7A6C"/>
                </a:solidFill>
              </a:rPr>
              <a:t>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Persist user-level runtime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Update provider/model choices dynamically in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779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Apply inherited settings across repository workspaces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Surface re-index implications when embeddings change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0144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0144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Single source of truth for AI runtime behavior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Consistent assistant, search, and impact configuration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2779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Clear provider capability boundaries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559552"/>
            <a:ext cx="112471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64184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7A6C"/>
                </a:solidFill>
              </a:rPr>
              <a:t>Practical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632704"/>
            <a:ext cx="9875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E7A"/>
                </a:solidFill>
              </a:rPr>
              <a:t>Switch providers/models once and apply the profile across all repositories • Keep assistant and embedding behavior consistent during demos or experiments • Cost saving: easier provider/model tuning helps move workloads to cheaper or local options when acceptable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035040"/>
            <a:ext cx="11247120" cy="41148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117336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A8D0C8"/>
                </a:solidFill>
              </a:rPr>
              <a:t>  User → Settings Screen → Save Profile → Repository Features Inherit Runtime Configuration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E7A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17320" cy="2743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4243D"/>
                </a:solidFill>
              </a:rPr>
              <a:t>Hard Delete &amp; Deletion 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4B5E7A"/>
                </a:solidFill>
              </a:rPr>
              <a:t>Permanent repository removal with full cleanup and one surviving operational deletion snapshot.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47120" cy="22860"/>
          </a:xfrm>
          <a:prstGeom prst="rect">
            <a:avLst/>
          </a:prstGeom>
          <a:solidFill>
            <a:srgbClr val="D0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Repository delete request with confirmation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Repository-scoped records and temp workspace path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1463040"/>
            <a:ext cx="3520440" cy="4069080"/>
          </a:xfrm>
          <a:prstGeom prst="rect">
            <a:avLst/>
          </a:prstGeom>
          <a:solidFill>
            <a:srgbClr val="E8F5F2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3672" y="1463040"/>
            <a:ext cx="3520440" cy="45720"/>
          </a:xfrm>
          <a:prstGeom prst="rect">
            <a:avLst/>
          </a:prstGeom>
          <a:solidFill>
            <a:srgbClr val="0B7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7A6C"/>
                </a:solidFill>
              </a:rPr>
              <a:t>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Snapshot counts and repository metadata for deletion 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Hard-delete repository-owned records and histories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779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Remove cloned workspaces from disk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Preserve one deletion-log row per deleted repository 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0144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0144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4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4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Repository fully removed from active system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Read-only deletion history for operational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2779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B5E7A"/>
                </a:solidFill>
              </a:rPr>
              <a:t>›  Re-addition remains possible as a new repository lifecycle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59552"/>
            <a:ext cx="112471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64184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7A6C"/>
                </a:solidFill>
              </a:rPr>
              <a:t>Practical 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632704"/>
            <a:ext cx="9875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E7A"/>
                </a:solidFill>
              </a:rPr>
              <a:t>Remove obsolete or test repositories cleanly when they are no longer needed • Keep a minimal operational record of what was deleted and cleaned • Cost saving: reduces storage, indexed data volume, and future background-processing footprint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035040"/>
            <a:ext cx="11247120" cy="41148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117336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A8D0C8"/>
                </a:solidFill>
              </a:rPr>
              <a:t>  User → DestroyService → Snapshot Counts → Hard Delete Records → Workspace Cleanup → Deletion 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9459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E7A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103120" cy="2743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PRACTICAL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43D"/>
                </a:solidFill>
              </a:rPr>
              <a:t>Where This MVP Is Useful 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4B5E7A"/>
                </a:solidFill>
              </a:rPr>
              <a:t>Representative day-to-day engineering scenarios enabled by the current repository intelligence workflow.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47120" cy="22860"/>
          </a:xfrm>
          <a:prstGeom prst="rect">
            <a:avLst/>
          </a:prstGeom>
          <a:solidFill>
            <a:srgbClr val="D0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45920"/>
            <a:ext cx="109728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45920"/>
            <a:ext cx="109728" cy="658368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28216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4243D"/>
                </a:solidFill>
              </a:rPr>
              <a:t>New engineer 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72821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4B5E7A"/>
                </a:solidFill>
              </a:rPr>
              <a:t>Ask for architecture summaries, service locations, execution flow, and main integration points without manual file hunting.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414016"/>
            <a:ext cx="109728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414016"/>
            <a:ext cx="109728" cy="658368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496312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4243D"/>
                </a:solidFill>
              </a:rPr>
              <a:t>Safe change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9631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4B5E7A"/>
                </a:solidFill>
              </a:rPr>
              <a:t>Run Impact Analyzer before changing a controller, service, model, or job to estimate blast radius and review checkpoints.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182112"/>
            <a:ext cx="109728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182112"/>
            <a:ext cx="109728" cy="658368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26440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4243D"/>
                </a:solidFill>
              </a:rPr>
              <a:t>Fast code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264408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4B5E7A"/>
                </a:solidFill>
              </a:rPr>
              <a:t>Use semantic search to find symbols, workflows, or concepts even when exact filenames or modules are not already known.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950208"/>
            <a:ext cx="109728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950208"/>
            <a:ext cx="109728" cy="658368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032504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4243D"/>
                </a:solidFill>
              </a:rPr>
              <a:t>Operational debugging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032504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4B5E7A"/>
                </a:solidFill>
              </a:rPr>
              <a:t>Inspect provider logs to verify which model was called, how long it took, whether it failed, and what usage it consumed.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718304"/>
            <a:ext cx="109728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4718304"/>
            <a:ext cx="109728" cy="658368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800600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4243D"/>
                </a:solidFill>
              </a:rPr>
              <a:t>Repository refresh after changes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80060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4B5E7A"/>
                </a:solidFill>
              </a:rPr>
              <a:t>Re-sync a tracked branch after code changes or embedding-configuration changes so search and assistant answers stay consistent.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5486400"/>
            <a:ext cx="109728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5486400"/>
            <a:ext cx="109728" cy="658368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5568696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4243D"/>
                </a:solidFill>
              </a:rPr>
              <a:t>Repository retirement / cleanup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556869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4B5E7A"/>
                </a:solidFill>
              </a:rPr>
              <a:t>Hard-delete a repository when it is no longer needed while still retaining one operational deletion snapshot for auditability.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E7A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88552" y="4572000"/>
            <a:ext cx="3840480" cy="3840480"/>
          </a:xfrm>
          <a:prstGeom prst="ellipse">
            <a:avLst/>
          </a:prstGeom>
          <a:solidFill>
            <a:srgbClr val="1C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4290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DC"/>
                </a:solidFill>
              </a:rPr>
              <a:t>Repository Intelligence Studio  ·  MVP Feature Walkthrough  ·  July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977639"/>
            <a:ext cx="3657600" cy="36576"/>
          </a:xfrm>
          <a:prstGeom prst="rect">
            <a:avLst/>
          </a:prstGeom>
          <a:solidFill>
            <a:srgbClr val="0B7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